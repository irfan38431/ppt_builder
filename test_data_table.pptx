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11247109" cy="3803904"/>
        </p:xfrm>
        <a:graphic>
          <a:graphicData uri="http://schemas.openxmlformats.org/drawingml/2006/table">
            <a:tbl>
              <a:tblPr/>
              <a:tblGrid>
                <a:gridCol w="525592"/>
                <a:gridCol w="503005"/>
                <a:gridCol w="503005"/>
                <a:gridCol w="506820"/>
                <a:gridCol w="525592"/>
                <a:gridCol w="503005"/>
                <a:gridCol w="506820"/>
                <a:gridCol w="525592"/>
                <a:gridCol w="503005"/>
                <a:gridCol w="503005"/>
                <a:gridCol w="506820"/>
                <a:gridCol w="525592"/>
                <a:gridCol w="503005"/>
                <a:gridCol w="506820"/>
                <a:gridCol w="525592"/>
                <a:gridCol w="503005"/>
                <a:gridCol w="503005"/>
                <a:gridCol w="506820"/>
                <a:gridCol w="525592"/>
                <a:gridCol w="503005"/>
                <a:gridCol w="506820"/>
                <a:gridCol w="525592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HNI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Corporate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Retail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Scheme Mapping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Jul-25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Aug-25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Abs Growth</a:t>
                      </a:r>
                    </a:p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Jul-25 to Aug-25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Rel. Growth</a:t>
                      </a:r>
                    </a:p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Jul-25 to Aug-25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Jan-26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Abs Growth</a:t>
                      </a:r>
                    </a:p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Aug-25 to Jan-26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Rel. Growth</a:t>
                      </a:r>
                    </a:p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Aug-25 to Jan-26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Jul-25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Aug-25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Abs Growth</a:t>
                      </a:r>
                    </a:p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Jul-25 to Aug-25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Rel. Growth</a:t>
                      </a:r>
                    </a:p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Jul-25 to Aug-25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Jan-26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Abs Growth</a:t>
                      </a:r>
                    </a:p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Aug-25 to Jan-26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Rel. Growth</a:t>
                      </a:r>
                    </a:p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Aug-25 to Jan-26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Jul-25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Aug-25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Abs Growth</a:t>
                      </a:r>
                    </a:p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Jul-25 to Aug-25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Rel. Growth</a:t>
                      </a:r>
                    </a:p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Jul-25 to Aug-25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Jan-26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Abs Growth</a:t>
                      </a:r>
                    </a:p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Aug-25 to Jan-26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Rel. Growth</a:t>
                      </a:r>
                    </a:p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Aug-25 to Jan-26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Corporate Bond Fund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2,255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2,188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-66.9</a:t>
                      </a:r>
                    </a:p>
                  </a:txBody>
                  <a:tcPr anchor="ctr" marL="73152" marR="73152" marT="36576" marB="36576">
                    <a:solidFill>
                      <a:srgbClr val="F8968E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-3</a:t>
                      </a:r>
                    </a:p>
                  </a:txBody>
                  <a:tcPr anchor="ctr" marL="73152" marR="73152" marT="36576" marB="36576">
                    <a:solidFill>
                      <a:srgbClr val="F67268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2,133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-55.5</a:t>
                      </a:r>
                    </a:p>
                  </a:txBody>
                  <a:tcPr anchor="ctr" marL="73152" marR="73152" marT="36576" marB="36576">
                    <a:solidFill>
                      <a:srgbClr val="FCCCC9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-3</a:t>
                      </a:r>
                    </a:p>
                  </a:txBody>
                  <a:tcPr anchor="ctr" marL="73152" marR="73152" marT="36576" marB="36576">
                    <a:solidFill>
                      <a:srgbClr val="FDECE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13,759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13,987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228.0</a:t>
                      </a:r>
                    </a:p>
                  </a:txBody>
                  <a:tcPr anchor="ctr" marL="73152" marR="73152" marT="36576" marB="36576">
                    <a:solidFill>
                      <a:srgbClr val="4CAF5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73152" marR="73152" marT="36576" marB="36576">
                    <a:solidFill>
                      <a:srgbClr val="C3E4C4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14,411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424.5</a:t>
                      </a:r>
                    </a:p>
                  </a:txBody>
                  <a:tcPr anchor="ctr" marL="73152" marR="73152" marT="36576" marB="36576">
                    <a:solidFill>
                      <a:srgbClr val="5FB762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73152" marR="73152" marT="36576" marB="36576">
                    <a:solidFill>
                      <a:srgbClr val="EBF6EC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157.9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159.2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1.3</a:t>
                      </a:r>
                    </a:p>
                  </a:txBody>
                  <a:tcPr anchor="ctr" marL="73152" marR="73152" marT="36576" marB="36576">
                    <a:solidFill>
                      <a:srgbClr val="A8D8A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L="73152" marR="73152" marT="36576" marB="36576">
                    <a:solidFill>
                      <a:srgbClr val="DBEFDC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164.1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4.9</a:t>
                      </a:r>
                    </a:p>
                  </a:txBody>
                  <a:tcPr anchor="ctr" marL="73152" marR="73152" marT="36576" marB="36576">
                    <a:solidFill>
                      <a:srgbClr val="CFE9D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73152" marR="73152" marT="36576" marB="36576">
                    <a:solidFill>
                      <a:srgbClr val="EDF7EE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Dynamic Bond Fund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1,517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1,484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-33.4</a:t>
                      </a:r>
                    </a:p>
                  </a:txBody>
                  <a:tcPr anchor="ctr" marL="73152" marR="73152" marT="36576" marB="36576">
                    <a:solidFill>
                      <a:srgbClr val="FBCAC6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-2</a:t>
                      </a:r>
                    </a:p>
                  </a:txBody>
                  <a:tcPr anchor="ctr" marL="73152" marR="73152" marT="36576" marB="36576">
                    <a:solidFill>
                      <a:srgbClr val="F9A19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1,399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-85.1</a:t>
                      </a:r>
                    </a:p>
                  </a:txBody>
                  <a:tcPr anchor="ctr" marL="73152" marR="73152" marT="36576" marB="36576">
                    <a:solidFill>
                      <a:srgbClr val="FAB1AC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-6</a:t>
                      </a:r>
                    </a:p>
                  </a:txBody>
                  <a:tcPr anchor="ctr" marL="73152" marR="73152" marT="36576" marB="36576">
                    <a:solidFill>
                      <a:srgbClr val="FCD9D6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1,199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1,178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-20.5</a:t>
                      </a:r>
                    </a:p>
                  </a:txBody>
                  <a:tcPr anchor="ctr" marL="73152" marR="73152" marT="36576" marB="36576">
                    <a:solidFill>
                      <a:srgbClr val="FEEEEC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-2</a:t>
                      </a:r>
                    </a:p>
                  </a:txBody>
                  <a:tcPr anchor="ctr" marL="73152" marR="73152" marT="36576" marB="36576">
                    <a:solidFill>
                      <a:srgbClr val="FBC0BC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1,095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-83.2</a:t>
                      </a:r>
                    </a:p>
                  </a:txBody>
                  <a:tcPr anchor="ctr" marL="73152" marR="73152" marT="36576" marB="36576">
                    <a:solidFill>
                      <a:srgbClr val="FDDEDB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-7</a:t>
                      </a:r>
                    </a:p>
                  </a:txBody>
                  <a:tcPr anchor="ctr" marL="73152" marR="73152" marT="36576" marB="36576">
                    <a:solidFill>
                      <a:srgbClr val="FCD0CC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139.8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137.2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-2.6</a:t>
                      </a:r>
                    </a:p>
                  </a:txBody>
                  <a:tcPr anchor="ctr" marL="73152" marR="73152" marT="36576" marB="36576">
                    <a:solidFill>
                      <a:srgbClr val="F4493D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-2</a:t>
                      </a:r>
                    </a:p>
                  </a:txBody>
                  <a:tcPr anchor="ctr" marL="73152" marR="73152" marT="36576" marB="36576">
                    <a:solidFill>
                      <a:srgbClr val="FAB3AE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131.3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-5.9</a:t>
                      </a:r>
                    </a:p>
                  </a:txBody>
                  <a:tcPr anchor="ctr" marL="73152" marR="73152" marT="36576" marB="36576">
                    <a:solidFill>
                      <a:srgbClr val="FBC2BE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-4</a:t>
                      </a:r>
                    </a:p>
                  </a:txBody>
                  <a:tcPr anchor="ctr" marL="73152" marR="73152" marT="36576" marB="36576">
                    <a:solidFill>
                      <a:srgbClr val="FDE6E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Short Duration Fund</a:t>
                      </a:r>
                    </a:p>
                  </a:txBody>
                  <a:tcPr anchor="ctr" marL="73152" marR="73152" marT="36576" marB="36576">
                    <a:solidFill>
                      <a:srgbClr val="FFFF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3,582</a:t>
                      </a:r>
                    </a:p>
                  </a:txBody>
                  <a:tcPr anchor="ctr" marL="73152" marR="73152" marT="36576" marB="36576">
                    <a:solidFill>
                      <a:srgbClr val="FFFF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3,492</a:t>
                      </a:r>
                    </a:p>
                  </a:txBody>
                  <a:tcPr anchor="ctr" marL="73152" marR="73152" marT="36576" marB="36576">
                    <a:solidFill>
                      <a:srgbClr val="FFFF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-89.7</a:t>
                      </a:r>
                    </a:p>
                  </a:txBody>
                  <a:tcPr anchor="ctr" marL="73152" marR="73152" marT="36576" marB="36576">
                    <a:solidFill>
                      <a:srgbClr val="F67268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-3</a:t>
                      </a:r>
                    </a:p>
                  </a:txBody>
                  <a:tcPr anchor="ctr" marL="73152" marR="73152" marT="36576" marB="36576">
                    <a:solidFill>
                      <a:srgbClr val="F67268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3,397</a:t>
                      </a:r>
                    </a:p>
                  </a:txBody>
                  <a:tcPr anchor="ctr" marL="73152" marR="73152" marT="36576" marB="36576">
                    <a:solidFill>
                      <a:srgbClr val="FFFF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-95.4</a:t>
                      </a:r>
                    </a:p>
                  </a:txBody>
                  <a:tcPr anchor="ctr" marL="73152" marR="73152" marT="36576" marB="36576">
                    <a:solidFill>
                      <a:srgbClr val="F9A8A2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-3</a:t>
                      </a:r>
                    </a:p>
                  </a:txBody>
                  <a:tcPr anchor="ctr" marL="73152" marR="73152" marT="36576" marB="36576">
                    <a:solidFill>
                      <a:srgbClr val="FDECE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13,212</a:t>
                      </a:r>
                    </a:p>
                  </a:txBody>
                  <a:tcPr anchor="ctr" marL="73152" marR="73152" marT="36576" marB="36576">
                    <a:solidFill>
                      <a:srgbClr val="FFFF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13,441</a:t>
                      </a:r>
                    </a:p>
                  </a:txBody>
                  <a:tcPr anchor="ctr" marL="73152" marR="73152" marT="36576" marB="36576">
                    <a:solidFill>
                      <a:srgbClr val="FFFF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228.2</a:t>
                      </a:r>
                    </a:p>
                  </a:txBody>
                  <a:tcPr anchor="ctr" marL="73152" marR="73152" marT="36576" marB="36576">
                    <a:solidFill>
                      <a:srgbClr val="4CAF5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73152" marR="73152" marT="36576" marB="36576">
                    <a:solidFill>
                      <a:srgbClr val="C3E4C4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13,355</a:t>
                      </a:r>
                    </a:p>
                  </a:txBody>
                  <a:tcPr anchor="ctr" marL="73152" marR="73152" marT="36576" marB="36576">
                    <a:solidFill>
                      <a:srgbClr val="FFFF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-85.4</a:t>
                      </a:r>
                    </a:p>
                  </a:txBody>
                  <a:tcPr anchor="ctr" marL="73152" marR="73152" marT="36576" marB="36576">
                    <a:solidFill>
                      <a:srgbClr val="FDDDD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-1</a:t>
                      </a:r>
                    </a:p>
                  </a:txBody>
                  <a:tcPr anchor="ctr" marL="73152" marR="73152" marT="36576" marB="36576">
                    <a:solidFill>
                      <a:srgbClr val="FEF8F7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124.3</a:t>
                      </a:r>
                    </a:p>
                  </a:txBody>
                  <a:tcPr anchor="ctr" marL="73152" marR="73152" marT="36576" marB="36576">
                    <a:solidFill>
                      <a:srgbClr val="FFFF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124.7</a:t>
                      </a:r>
                    </a:p>
                  </a:txBody>
                  <a:tcPr anchor="ctr" marL="73152" marR="73152" marT="36576" marB="36576">
                    <a:solidFill>
                      <a:srgbClr val="FFFF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0.40</a:t>
                      </a:r>
                    </a:p>
                  </a:txBody>
                  <a:tcPr anchor="ctr" marL="73152" marR="73152" marT="36576" marB="36576">
                    <a:solidFill>
                      <a:srgbClr val="E4F3E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73152" marR="73152" marT="36576" marB="36576">
                    <a:solidFill>
                      <a:srgbClr val="FFFF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125.4</a:t>
                      </a:r>
                    </a:p>
                  </a:txBody>
                  <a:tcPr anchor="ctr" marL="73152" marR="73152" marT="36576" marB="36576">
                    <a:solidFill>
                      <a:srgbClr val="FFFF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0.74</a:t>
                      </a:r>
                    </a:p>
                  </a:txBody>
                  <a:tcPr anchor="ctr" marL="73152" marR="73152" marT="36576" marB="36576">
                    <a:solidFill>
                      <a:srgbClr val="F7FBF7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L="73152" marR="73152" marT="36576" marB="36576">
                    <a:solidFill>
                      <a:srgbClr val="F9FCF9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Banking and PSU Debt Fund</a:t>
                      </a:r>
                    </a:p>
                  </a:txBody>
                  <a:tcPr anchor="ctr" marL="73152" marR="73152" marT="36576" marB="36576">
                    <a:solidFill>
                      <a:srgbClr val="FFFF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2,671</a:t>
                      </a:r>
                    </a:p>
                  </a:txBody>
                  <a:tcPr anchor="ctr" marL="73152" marR="73152" marT="36576" marB="36576">
                    <a:solidFill>
                      <a:srgbClr val="FFFF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2,551</a:t>
                      </a:r>
                    </a:p>
                  </a:txBody>
                  <a:tcPr anchor="ctr" marL="73152" marR="73152" marT="36576" marB="36576">
                    <a:solidFill>
                      <a:srgbClr val="FFFF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-119.8</a:t>
                      </a:r>
                    </a:p>
                  </a:txBody>
                  <a:tcPr anchor="ctr" marL="73152" marR="73152" marT="36576" marB="36576">
                    <a:solidFill>
                      <a:srgbClr val="F44336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-4</a:t>
                      </a:r>
                    </a:p>
                  </a:txBody>
                  <a:tcPr anchor="ctr" marL="73152" marR="73152" marT="36576" marB="36576">
                    <a:solidFill>
                      <a:srgbClr val="F44336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2,395</a:t>
                      </a:r>
                    </a:p>
                  </a:txBody>
                  <a:tcPr anchor="ctr" marL="73152" marR="73152" marT="36576" marB="36576">
                    <a:solidFill>
                      <a:srgbClr val="FFFF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-155.5</a:t>
                      </a:r>
                    </a:p>
                  </a:txBody>
                  <a:tcPr anchor="ctr" marL="73152" marR="73152" marT="36576" marB="36576">
                    <a:solidFill>
                      <a:srgbClr val="F67167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-6</a:t>
                      </a:r>
                    </a:p>
                  </a:txBody>
                  <a:tcPr anchor="ctr" marL="73152" marR="73152" marT="36576" marB="36576">
                    <a:solidFill>
                      <a:srgbClr val="FCD9D6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3,254</a:t>
                      </a:r>
                    </a:p>
                  </a:txBody>
                  <a:tcPr anchor="ctr" marL="73152" marR="73152" marT="36576" marB="36576">
                    <a:solidFill>
                      <a:srgbClr val="FFFF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3,210</a:t>
                      </a:r>
                    </a:p>
                  </a:txBody>
                  <a:tcPr anchor="ctr" marL="73152" marR="73152" marT="36576" marB="36576">
                    <a:solidFill>
                      <a:srgbClr val="FFFF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-44.4</a:t>
                      </a:r>
                    </a:p>
                  </a:txBody>
                  <a:tcPr anchor="ctr" marL="73152" marR="73152" marT="36576" marB="36576">
                    <a:solidFill>
                      <a:srgbClr val="FCDAD7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-1</a:t>
                      </a:r>
                    </a:p>
                  </a:txBody>
                  <a:tcPr anchor="ctr" marL="73152" marR="73152" marT="36576" marB="36576">
                    <a:solidFill>
                      <a:srgbClr val="FDDFDD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3,067</a:t>
                      </a:r>
                    </a:p>
                  </a:txBody>
                  <a:tcPr anchor="ctr" marL="73152" marR="73152" marT="36576" marB="36576">
                    <a:solidFill>
                      <a:srgbClr val="FFFF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-143.3</a:t>
                      </a:r>
                    </a:p>
                  </a:txBody>
                  <a:tcPr anchor="ctr" marL="73152" marR="73152" marT="36576" marB="36576">
                    <a:solidFill>
                      <a:srgbClr val="FBC6C2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-4</a:t>
                      </a:r>
                    </a:p>
                  </a:txBody>
                  <a:tcPr anchor="ctr" marL="73152" marR="73152" marT="36576" marB="36576">
                    <a:solidFill>
                      <a:srgbClr val="FDE4E2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79.7</a:t>
                      </a:r>
                    </a:p>
                  </a:txBody>
                  <a:tcPr anchor="ctr" marL="73152" marR="73152" marT="36576" marB="36576">
                    <a:solidFill>
                      <a:srgbClr val="FFFF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79.1</a:t>
                      </a:r>
                    </a:p>
                  </a:txBody>
                  <a:tcPr anchor="ctr" marL="73152" marR="73152" marT="36576" marB="36576">
                    <a:solidFill>
                      <a:srgbClr val="FFFF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-0.69</a:t>
                      </a:r>
                    </a:p>
                  </a:txBody>
                  <a:tcPr anchor="ctr" marL="73152" marR="73152" marT="36576" marB="36576">
                    <a:solidFill>
                      <a:srgbClr val="FCCECB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-1</a:t>
                      </a:r>
                    </a:p>
                  </a:txBody>
                  <a:tcPr anchor="ctr" marL="73152" marR="73152" marT="36576" marB="36576">
                    <a:solidFill>
                      <a:srgbClr val="FCD9D6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79.3</a:t>
                      </a:r>
                    </a:p>
                  </a:txBody>
                  <a:tcPr anchor="ctr" marL="73152" marR="73152" marT="36576" marB="36576">
                    <a:solidFill>
                      <a:srgbClr val="FFFF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0.22</a:t>
                      </a:r>
                    </a:p>
                  </a:txBody>
                  <a:tcPr anchor="ctr" marL="73152" marR="73152" marT="36576" marB="36576">
                    <a:solidFill>
                      <a:srgbClr val="FCFEFC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2C3E50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73152" marR="73152" marT="36576" marB="36576">
                    <a:solidFill>
                      <a:srgbClr val="FFFF0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Medium Duration Fund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1,076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1,069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-6.4</a:t>
                      </a:r>
                    </a:p>
                  </a:txBody>
                  <a:tcPr anchor="ctr" marL="73152" marR="73152" marT="36576" marB="36576">
                    <a:solidFill>
                      <a:srgbClr val="FEF4F4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-1</a:t>
                      </a:r>
                    </a:p>
                  </a:txBody>
                  <a:tcPr anchor="ctr" marL="73152" marR="73152" marT="36576" marB="36576">
                    <a:solidFill>
                      <a:srgbClr val="FCD0CC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1,122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52.4</a:t>
                      </a:r>
                    </a:p>
                  </a:txBody>
                  <a:tcPr anchor="ctr" marL="73152" marR="73152" marT="36576" marB="36576">
                    <a:solidFill>
                      <a:srgbClr val="D1EAD2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73152" marR="73152" marT="36576" marB="36576">
                    <a:solidFill>
                      <a:srgbClr val="E1F1E1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679.7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657.8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-21.9</a:t>
                      </a:r>
                    </a:p>
                  </a:txBody>
                  <a:tcPr anchor="ctr" marL="73152" marR="73152" marT="36576" marB="36576">
                    <a:solidFill>
                      <a:srgbClr val="FDECEB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-3</a:t>
                      </a:r>
                    </a:p>
                  </a:txBody>
                  <a:tcPr anchor="ctr" marL="73152" marR="73152" marT="36576" marB="36576">
                    <a:solidFill>
                      <a:srgbClr val="F9A19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767.0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109.2</a:t>
                      </a:r>
                    </a:p>
                  </a:txBody>
                  <a:tcPr anchor="ctr" marL="73152" marR="73152" marT="36576" marB="36576">
                    <a:solidFill>
                      <a:srgbClr val="D5ECD6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anchor="ctr" marL="73152" marR="73152" marT="36576" marB="36576">
                    <a:solidFill>
                      <a:srgbClr val="92CE94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57.7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58.6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0.90</a:t>
                      </a:r>
                    </a:p>
                  </a:txBody>
                  <a:tcPr anchor="ctr" marL="73152" marR="73152" marT="36576" marB="36576">
                    <a:solidFill>
                      <a:srgbClr val="C3E4C4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73152" marR="73152" marT="36576" marB="36576">
                    <a:solidFill>
                      <a:srgbClr val="B7DFB9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76.8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18.3</a:t>
                      </a:r>
                    </a:p>
                  </a:txBody>
                  <a:tcPr anchor="ctr" marL="73152" marR="73152" marT="36576" marB="36576">
                    <a:solidFill>
                      <a:srgbClr val="4CAF5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31</a:t>
                      </a:r>
                    </a:p>
                  </a:txBody>
                  <a:tcPr anchor="ctr" marL="73152" marR="73152" marT="36576" marB="36576">
                    <a:solidFill>
                      <a:srgbClr val="4CAF5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Gilt Fund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1,290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1,233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-56.9</a:t>
                      </a:r>
                    </a:p>
                  </a:txBody>
                  <a:tcPr anchor="ctr" marL="73152" marR="73152" marT="36576" marB="36576">
                    <a:solidFill>
                      <a:srgbClr val="F9A59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-4</a:t>
                      </a:r>
                    </a:p>
                  </a:txBody>
                  <a:tcPr anchor="ctr" marL="73152" marR="73152" marT="36576" marB="36576">
                    <a:solidFill>
                      <a:srgbClr val="F44336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1,027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-206.8</a:t>
                      </a:r>
                    </a:p>
                  </a:txBody>
                  <a:tcPr anchor="ctr" marL="73152" marR="73152" marT="36576" marB="36576">
                    <a:solidFill>
                      <a:srgbClr val="F44336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-17</a:t>
                      </a:r>
                    </a:p>
                  </a:txBody>
                  <a:tcPr anchor="ctr" marL="73152" marR="73152" marT="36576" marB="36576">
                    <a:solidFill>
                      <a:srgbClr val="F8948D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2,583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2,423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-160.3</a:t>
                      </a:r>
                    </a:p>
                  </a:txBody>
                  <a:tcPr anchor="ctr" marL="73152" marR="73152" marT="36576" marB="36576">
                    <a:solidFill>
                      <a:srgbClr val="F77A71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-6</a:t>
                      </a:r>
                    </a:p>
                  </a:txBody>
                  <a:tcPr anchor="ctr" marL="73152" marR="73152" marT="36576" marB="36576">
                    <a:solidFill>
                      <a:srgbClr val="F44336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1,948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-475.1</a:t>
                      </a:r>
                    </a:p>
                  </a:txBody>
                  <a:tcPr anchor="ctr" marL="73152" marR="73152" marT="36576" marB="36576">
                    <a:solidFill>
                      <a:srgbClr val="F44336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-20</a:t>
                      </a:r>
                    </a:p>
                  </a:txBody>
                  <a:tcPr anchor="ctr" marL="73152" marR="73152" marT="36576" marB="36576">
                    <a:solidFill>
                      <a:srgbClr val="F7786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82.7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80.0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-2.7</a:t>
                      </a:r>
                    </a:p>
                  </a:txBody>
                  <a:tcPr anchor="ctr" marL="73152" marR="73152" marT="36576" marB="36576">
                    <a:solidFill>
                      <a:srgbClr val="F44336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-3</a:t>
                      </a:r>
                    </a:p>
                  </a:txBody>
                  <a:tcPr anchor="ctr" marL="73152" marR="73152" marT="36576" marB="36576">
                    <a:solidFill>
                      <a:srgbClr val="F88E86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69.3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-10.7</a:t>
                      </a:r>
                    </a:p>
                  </a:txBody>
                  <a:tcPr anchor="ctr" marL="73152" marR="73152" marT="36576" marB="36576">
                    <a:solidFill>
                      <a:srgbClr val="F89189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-13</a:t>
                      </a:r>
                    </a:p>
                  </a:txBody>
                  <a:tcPr anchor="ctr" marL="73152" marR="73152" marT="36576" marB="36576">
                    <a:solidFill>
                      <a:srgbClr val="FAB0A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Credit Risk Fund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464.3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456.3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-8.0</a:t>
                      </a:r>
                    </a:p>
                  </a:txBody>
                  <a:tcPr anchor="ctr" marL="73152" marR="73152" marT="36576" marB="36576">
                    <a:solidFill>
                      <a:srgbClr val="FEF2F1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-2</a:t>
                      </a:r>
                    </a:p>
                  </a:txBody>
                  <a:tcPr anchor="ctr" marL="73152" marR="73152" marT="36576" marB="36576">
                    <a:solidFill>
                      <a:srgbClr val="F9A19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435.0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-21.3</a:t>
                      </a:r>
                    </a:p>
                  </a:txBody>
                  <a:tcPr anchor="ctr" marL="73152" marR="73152" marT="36576" marB="36576">
                    <a:solidFill>
                      <a:srgbClr val="FDEBE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-5</a:t>
                      </a:r>
                    </a:p>
                  </a:txBody>
                  <a:tcPr anchor="ctr" marL="73152" marR="73152" marT="36576" marB="36576">
                    <a:solidFill>
                      <a:srgbClr val="FDDFDD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157.0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154.4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-2.5</a:t>
                      </a:r>
                    </a:p>
                  </a:txBody>
                  <a:tcPr anchor="ctr" marL="73152" marR="73152" marT="36576" marB="36576">
                    <a:solidFill>
                      <a:srgbClr val="FEFCFC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-2</a:t>
                      </a:r>
                    </a:p>
                  </a:txBody>
                  <a:tcPr anchor="ctr" marL="73152" marR="73152" marT="36576" marB="36576">
                    <a:solidFill>
                      <a:srgbClr val="FBC0BC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198.3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43.9</a:t>
                      </a:r>
                    </a:p>
                  </a:txBody>
                  <a:tcPr anchor="ctr" marL="73152" marR="73152" marT="36576" marB="36576">
                    <a:solidFill>
                      <a:srgbClr val="EEF7EE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28</a:t>
                      </a:r>
                    </a:p>
                  </a:txBody>
                  <a:tcPr anchor="ctr" marL="73152" marR="73152" marT="36576" marB="36576">
                    <a:solidFill>
                      <a:srgbClr val="4CAF5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46.3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45.7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-0.62</a:t>
                      </a:r>
                    </a:p>
                  </a:txBody>
                  <a:tcPr anchor="ctr" marL="73152" marR="73152" marT="36576" marB="36576">
                    <a:solidFill>
                      <a:srgbClr val="FCD3D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-1</a:t>
                      </a:r>
                    </a:p>
                  </a:txBody>
                  <a:tcPr anchor="ctr" marL="73152" marR="73152" marT="36576" marB="36576">
                    <a:solidFill>
                      <a:srgbClr val="FCD9D6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45.0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-0.72</a:t>
                      </a:r>
                    </a:p>
                  </a:txBody>
                  <a:tcPr anchor="ctr" marL="73152" marR="73152" marT="36576" marB="36576">
                    <a:solidFill>
                      <a:srgbClr val="FEF7F7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-2</a:t>
                      </a:r>
                    </a:p>
                  </a:txBody>
                  <a:tcPr anchor="ctr" marL="73152" marR="73152" marT="36576" marB="36576">
                    <a:solidFill>
                      <a:srgbClr val="FEF2F2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Medium to Long Duration Fund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380.2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376.5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-3.7</a:t>
                      </a:r>
                    </a:p>
                  </a:txBody>
                  <a:tcPr anchor="ctr" marL="73152" marR="73152" marT="36576" marB="36576">
                    <a:solidFill>
                      <a:srgbClr val="FEF9F8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-1</a:t>
                      </a:r>
                    </a:p>
                  </a:txBody>
                  <a:tcPr anchor="ctr" marL="73152" marR="73152" marT="36576" marB="36576">
                    <a:solidFill>
                      <a:srgbClr val="FCD0CC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350.9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-25.5</a:t>
                      </a:r>
                    </a:p>
                  </a:txBody>
                  <a:tcPr anchor="ctr" marL="73152" marR="73152" marT="36576" marB="36576">
                    <a:solidFill>
                      <a:srgbClr val="FDE7E6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-7</a:t>
                      </a:r>
                    </a:p>
                  </a:txBody>
                  <a:tcPr anchor="ctr" marL="73152" marR="73152" marT="36576" marB="36576">
                    <a:solidFill>
                      <a:srgbClr val="FCD3D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1,271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1,257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-13.9</a:t>
                      </a:r>
                    </a:p>
                  </a:txBody>
                  <a:tcPr anchor="ctr" marL="73152" marR="73152" marT="36576" marB="36576">
                    <a:solidFill>
                      <a:srgbClr val="FEF3F2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-1</a:t>
                      </a:r>
                    </a:p>
                  </a:txBody>
                  <a:tcPr anchor="ctr" marL="73152" marR="73152" marT="36576" marB="36576">
                    <a:solidFill>
                      <a:srgbClr val="FDDFDD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1,257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-0.03</a:t>
                      </a:r>
                    </a:p>
                  </a:txBody>
                  <a:tcPr anchor="ctr" marL="73152" marR="73152" marT="36576" marB="36576">
                    <a:solidFill>
                      <a:srgbClr val="FEFEFE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35.7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35.3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-0.38</a:t>
                      </a:r>
                    </a:p>
                  </a:txBody>
                  <a:tcPr anchor="ctr" marL="73152" marR="73152" marT="36576" marB="36576">
                    <a:solidFill>
                      <a:srgbClr val="FDE4E2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-1</a:t>
                      </a:r>
                    </a:p>
                  </a:txBody>
                  <a:tcPr anchor="ctr" marL="73152" marR="73152" marT="36576" marB="36576">
                    <a:solidFill>
                      <a:srgbClr val="FCD9D6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33.7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-1.6</a:t>
                      </a:r>
                    </a:p>
                  </a:txBody>
                  <a:tcPr anchor="ctr" marL="73152" marR="73152" marT="36576" marB="36576">
                    <a:solidFill>
                      <a:srgbClr val="FEEEED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-4</a:t>
                      </a:r>
                    </a:p>
                  </a:txBody>
                  <a:tcPr anchor="ctr" marL="73152" marR="73152" marT="36576" marB="36576">
                    <a:solidFill>
                      <a:srgbClr val="FDE6E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Floater Fund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1,163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1,145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-18.4</a:t>
                      </a:r>
                    </a:p>
                  </a:txBody>
                  <a:tcPr anchor="ctr" marL="73152" marR="73152" marT="36576" marB="36576">
                    <a:solidFill>
                      <a:srgbClr val="FDE2E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-2</a:t>
                      </a:r>
                    </a:p>
                  </a:txBody>
                  <a:tcPr anchor="ctr" marL="73152" marR="73152" marT="36576" marB="36576">
                    <a:solidFill>
                      <a:srgbClr val="F9A19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1,091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-54.2</a:t>
                      </a:r>
                    </a:p>
                  </a:txBody>
                  <a:tcPr anchor="ctr" marL="73152" marR="73152" marT="36576" marB="36576">
                    <a:solidFill>
                      <a:srgbClr val="FCCDC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-5</a:t>
                      </a:r>
                    </a:p>
                  </a:txBody>
                  <a:tcPr anchor="ctr" marL="73152" marR="73152" marT="36576" marB="36576">
                    <a:solidFill>
                      <a:srgbClr val="FDDFDD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1,927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2,003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76.4</a:t>
                      </a:r>
                    </a:p>
                  </a:txBody>
                  <a:tcPr anchor="ctr" marL="73152" marR="73152" marT="36576" marB="36576">
                    <a:solidFill>
                      <a:srgbClr val="C3E4C4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73152" marR="73152" marT="36576" marB="36576">
                    <a:solidFill>
                      <a:srgbClr val="87C98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2,252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248.9</a:t>
                      </a:r>
                    </a:p>
                  </a:txBody>
                  <a:tcPr anchor="ctr" marL="73152" marR="73152" marT="36576" marB="36576">
                    <a:solidFill>
                      <a:srgbClr val="A1D5A3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anchor="ctr" marL="73152" marR="73152" marT="36576" marB="36576">
                    <a:solidFill>
                      <a:srgbClr val="B2DCB4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23.8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24.2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0.37</a:t>
                      </a:r>
                    </a:p>
                  </a:txBody>
                  <a:tcPr anchor="ctr" marL="73152" marR="73152" marT="36576" marB="36576">
                    <a:solidFill>
                      <a:srgbClr val="E6F4E7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73152" marR="73152" marT="36576" marB="36576">
                    <a:solidFill>
                      <a:srgbClr val="B7DFB9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27.2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3.0</a:t>
                      </a:r>
                    </a:p>
                  </a:txBody>
                  <a:tcPr anchor="ctr" marL="73152" marR="73152" marT="36576" marB="36576">
                    <a:solidFill>
                      <a:srgbClr val="E1F1E2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anchor="ctr" marL="73152" marR="73152" marT="36576" marB="36576">
                    <a:solidFill>
                      <a:srgbClr val="B3DDB5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Long Duration Fund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83.9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80.3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-3.7</a:t>
                      </a:r>
                    </a:p>
                  </a:txBody>
                  <a:tcPr anchor="ctr" marL="73152" marR="73152" marT="36576" marB="36576">
                    <a:solidFill>
                      <a:srgbClr val="FEF9F8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-4</a:t>
                      </a:r>
                    </a:p>
                  </a:txBody>
                  <a:tcPr anchor="ctr" marL="73152" marR="73152" marT="36576" marB="36576">
                    <a:solidFill>
                      <a:srgbClr val="F44336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56.0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-24.3</a:t>
                      </a:r>
                    </a:p>
                  </a:txBody>
                  <a:tcPr anchor="ctr" marL="73152" marR="73152" marT="36576" marB="36576">
                    <a:solidFill>
                      <a:srgbClr val="FDE8E7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-30</a:t>
                      </a:r>
                    </a:p>
                  </a:txBody>
                  <a:tcPr anchor="ctr" marL="73152" marR="73152" marT="36576" marB="36576">
                    <a:solidFill>
                      <a:srgbClr val="F44336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67.0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66.2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-0.74</a:t>
                      </a:r>
                    </a:p>
                  </a:txBody>
                  <a:tcPr anchor="ctr" marL="73152" marR="73152" marT="36576" marB="36576">
                    <a:solidFill>
                      <a:srgbClr val="FEFEFE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-1</a:t>
                      </a:r>
                    </a:p>
                  </a:txBody>
                  <a:tcPr anchor="ctr" marL="73152" marR="73152" marT="36576" marB="36576">
                    <a:solidFill>
                      <a:srgbClr val="FDDFDD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58.3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-7.9</a:t>
                      </a:r>
                    </a:p>
                  </a:txBody>
                  <a:tcPr anchor="ctr" marL="73152" marR="73152" marT="36576" marB="36576">
                    <a:solidFill>
                      <a:srgbClr val="FEFBFB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-12</a:t>
                      </a:r>
                    </a:p>
                  </a:txBody>
                  <a:tcPr anchor="ctr" marL="73152" marR="73152" marT="36576" marB="36576">
                    <a:solidFill>
                      <a:srgbClr val="FAAEA8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11.5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10.9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-0.60</a:t>
                      </a:r>
                    </a:p>
                  </a:txBody>
                  <a:tcPr anchor="ctr" marL="73152" marR="73152" marT="36576" marB="36576">
                    <a:solidFill>
                      <a:srgbClr val="FCD5D2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-5</a:t>
                      </a:r>
                    </a:p>
                  </a:txBody>
                  <a:tcPr anchor="ctr" marL="73152" marR="73152" marT="36576" marB="36576">
                    <a:solidFill>
                      <a:srgbClr val="F44336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9.2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-1.7</a:t>
                      </a:r>
                    </a:p>
                  </a:txBody>
                  <a:tcPr anchor="ctr" marL="73152" marR="73152" marT="36576" marB="36576">
                    <a:solidFill>
                      <a:srgbClr val="FDEDEC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700" b="0">
                          <a:solidFill>
                            <a:srgbClr val="2C3E50"/>
                          </a:solidFill>
                          <a:latin typeface="Segoe UI"/>
                        </a:rPr>
                        <a:t>-16</a:t>
                      </a:r>
                    </a:p>
                  </a:txBody>
                  <a:tcPr anchor="ctr" marL="73152" marR="73152" marT="36576" marB="36576">
                    <a:solidFill>
                      <a:srgbClr val="F99D97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Grand Total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14,483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14,076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-407.0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-26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13,404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-671.2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-77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38,109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38,377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268.2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-8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38,409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31.5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759.4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754.8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-4.6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-8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761.4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6.5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57200" y="4764024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95A5A6"/>
                </a:solidFill>
                <a:latin typeface="Segoe UI"/>
              </a:defRPr>
            </a:pPr>
            <a:r>
              <a:t>Source: AMFI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