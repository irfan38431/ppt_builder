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2A4A"/>
            </a:gs>
            <a:gs pos="100000">
              <a:srgbClr val="2C4A7C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Assess Kotak AMC Market Expansion FY26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54864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Segoe UI"/>
              </a:defRPr>
            </a:pPr>
            <a:r>
              <a:t>This executive review outlines Kotak Mahindra AMC's robust FY26 performance and competitive industry positioning.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Securing Fifth Position by Surpassing ₹6 Trillion AUM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21208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1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Total managed capital hit record highs this February.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1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Expanded portfolio twenty percent within fourteen months.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1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Retained top-five industry rank with robust market share.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1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Servicing 7.4 million unique individuals across numerous folios.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100">
                <a:solidFill>
                  <a:srgbClr val="4A90D9"/>
                </a:solidFill>
              </a:rPr>
              <a:t>▸  </a:t>
            </a:r>
            <a:r>
              <a:rPr sz="1400">
                <a:solidFill>
                  <a:srgbClr val="2C3E50"/>
                </a:solidFill>
                <a:latin typeface="Segoe UI"/>
              </a:rPr>
              <a:t>Monthly systematic investment inflows currently exceed ₹1,500 crore.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3840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90D9"/>
                </a:solidFill>
              </a:rPr>
              <a:t>★ </a:t>
            </a:r>
            <a:r>
              <a:rPr sz="13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300">
                <a:solidFill>
                  <a:srgbClr val="2C3E50"/>
                </a:solidFill>
                <a:latin typeface="Segoe UI"/>
              </a:rPr>
              <a:t>Consistent 25% YoY growth has cemented KMAMC's position as the 5th largest AMC in India.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Kotak Mahindra AMC: Competitive Intelligence &amp; Asset Analysis (FY 2025...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Sacrifice Short-Term Yields to Accelerate Retail Penetration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80160"/>
          <a:ext cx="10058400" cy="2084832"/>
        </p:xfrm>
        <a:graphic>
          <a:graphicData uri="http://schemas.openxmlformats.org/drawingml/2006/table">
            <a:tbl>
              <a:tblPr/>
              <a:tblGrid>
                <a:gridCol w="2682240"/>
                <a:gridCol w="2346960"/>
                <a:gridCol w="2570480"/>
                <a:gridCol w="24587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Asset Management Company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FY25 Profit After Tax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Operating Revenue Yield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Operating Profit Yield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ICICI Prudential AMC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₹2,651 crore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52 bps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36 bps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SBI Mutual Fund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₹2,540 crore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33 bps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25 bps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HDFC AMC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₹2,461 crore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47 bps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36 bps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Nippon India AMC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₹1,252 crore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38 bps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25 bps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Kotak Mahindra AMC</a:t>
                      </a:r>
                    </a:p>
                  </a:txBody>
                  <a:tcPr anchor="ctr" marL="73152" marR="73152" marT="36576" marB="36576">
                    <a:solidFill>
                      <a:srgbClr val="E2E8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₹977 crore</a:t>
                      </a:r>
                    </a:p>
                  </a:txBody>
                  <a:tcPr anchor="ctr" marL="73152" marR="73152" marT="36576" marB="36576">
                    <a:solidFill>
                      <a:srgbClr val="E2E8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27 bps</a:t>
                      </a:r>
                    </a:p>
                  </a:txBody>
                  <a:tcPr anchor="ctr" marL="73152" marR="73152" marT="36576" marB="36576">
                    <a:solidFill>
                      <a:srgbClr val="E2E8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17 bps</a:t>
                      </a:r>
                    </a:p>
                  </a:txBody>
                  <a:tcPr anchor="ctr" marL="73152" marR="73152" marT="36576" marB="36576">
                    <a:solidFill>
                      <a:srgbClr val="E2E8F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41071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5A5A6"/>
                </a:solidFill>
                <a:latin typeface="Segoe UI"/>
              </a:defRPr>
            </a:pPr>
            <a:r>
              <a:t>Source: FY25 AMC Profitability &amp; Yield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90D9"/>
                </a:solidFill>
              </a:rPr>
              <a:t>★ </a:t>
            </a:r>
            <a:r>
              <a:rPr sz="13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300">
                <a:solidFill>
                  <a:srgbClr val="2C3E50"/>
                </a:solidFill>
                <a:latin typeface="Segoe UI"/>
              </a:rPr>
              <a:t>KMAMC strategically accepts the lowest operating yield among top peers to aggressively capture Tier-2 and Tier-3 market share before fintechs establish dominance.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Kotak Mahindra AMC: Competitive Intelligence &amp; Asset Analysis (FY 2025...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2A4A"/>
                </a:solidFill>
                <a:latin typeface="Segoe UI"/>
              </a:defRPr>
            </a:pPr>
            <a:r>
              <a:t>Accelerate Growth via B30 Markets and Retail SIPs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280160"/>
          <a:ext cx="10058398" cy="2084832"/>
        </p:xfrm>
        <a:graphic>
          <a:graphicData uri="http://schemas.openxmlformats.org/drawingml/2006/table">
            <a:tbl>
              <a:tblPr/>
              <a:tblGrid>
                <a:gridCol w="2873828"/>
                <a:gridCol w="3592285"/>
                <a:gridCol w="2155371"/>
                <a:gridCol w="1436914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Strategic Pillar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Key Performance Indicator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Q3 FY26 Value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YoY Growth</a:t>
                      </a:r>
                    </a:p>
                  </a:txBody>
                  <a:tcPr anchor="ctr" marL="73152" marR="73152" marT="36576" marB="36576">
                    <a:solidFill>
                      <a:srgbClr val="1B2A4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Geographic Expansion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T30 Market AUM Growth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87.7% Share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+7.6%</a:t>
                      </a:r>
                    </a:p>
                  </a:txBody>
                  <a:tcPr anchor="ctr" marL="73152" marR="73152" marT="36576" marB="36576">
                    <a:solidFill>
                      <a:srgbClr val="BAE0BC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Geographic Expansion</a:t>
                      </a:r>
                    </a:p>
                  </a:txBody>
                  <a:tcPr anchor="ctr" marL="73152" marR="73152" marT="36576" marB="36576">
                    <a:solidFill>
                      <a:srgbClr val="E6F0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B30 Market AUM Growth</a:t>
                      </a:r>
                    </a:p>
                  </a:txBody>
                  <a:tcPr anchor="ctr" marL="73152" marR="73152" marT="36576" marB="36576">
                    <a:solidFill>
                      <a:srgbClr val="E6F0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12.3% Share</a:t>
                      </a:r>
                    </a:p>
                  </a:txBody>
                  <a:tcPr anchor="ctr" marL="73152" marR="73152" marT="36576" marB="36576">
                    <a:solidFill>
                      <a:srgbClr val="E6F0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+14.7%</a:t>
                      </a:r>
                    </a:p>
                  </a:txBody>
                  <a:tcPr anchor="ctr" marL="73152" marR="73152" marT="36576" marB="36576">
                    <a:solidFill>
                      <a:srgbClr val="7BC47E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Retail Resilience</a:t>
                      </a:r>
                    </a:p>
                  </a:txBody>
                  <a:tcPr anchor="ctr" marL="73152" marR="73152" marT="36576" marB="36576">
                    <a:solidFill>
                      <a:srgbClr val="E6F0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Monthly SIP Inflows</a:t>
                      </a:r>
                    </a:p>
                  </a:txBody>
                  <a:tcPr anchor="ctr" marL="73152" marR="73152" marT="36576" marB="36576">
                    <a:solidFill>
                      <a:srgbClr val="E6F0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₹2,043 Crore</a:t>
                      </a:r>
                    </a:p>
                  </a:txBody>
                  <a:tcPr anchor="ctr" marL="73152" marR="73152" marT="36576" marB="36576">
                    <a:solidFill>
                      <a:srgbClr val="E6F0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+10.0%</a:t>
                      </a:r>
                    </a:p>
                  </a:txBody>
                  <a:tcPr anchor="ctr" marL="73152" marR="73152" marT="36576" marB="36576">
                    <a:solidFill>
                      <a:srgbClr val="A5D7A7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Retail Resilience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Total Domestic MF AUM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₹5,86,610 Crore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+20.0%</a:t>
                      </a:r>
                    </a:p>
                  </a:txBody>
                  <a:tcPr anchor="ctr" marL="73152" marR="73152" marT="36576" marB="36576">
                    <a:solidFill>
                      <a:srgbClr val="4CAF50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Market Position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Equity AAUM Market Share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6.39%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2C3E50"/>
                          </a:solidFill>
                          <a:latin typeface="Segoe UI"/>
                        </a:defRPr>
                      </a:pPr>
                      <a:r>
                        <a:rPr sz="1200" b="0">
                          <a:solidFill>
                            <a:srgbClr val="2C3E50"/>
                          </a:solidFill>
                          <a:latin typeface="Segoe UI"/>
                        </a:rPr>
                        <a:t>Maintained</a:t>
                      </a:r>
                    </a:p>
                  </a:txBody>
                  <a:tcPr anchor="ctr" marL="73152" marR="73152" marT="36576" marB="36576">
                    <a:solidFill>
                      <a:srgbClr val="F8F9FA"/>
                    </a:solidFill>
                    <a:lnL w="6350" cap="flat" cmpd="sng">
                      <a:solidFill>
                        <a:srgbClr val="D5D8DC"/>
                      </a:solidFill>
                      <a:prstDash val="solid"/>
                    </a:lnL>
                    <a:lnR w="6350" cap="flat" cmpd="sng">
                      <a:solidFill>
                        <a:srgbClr val="D5D8DC"/>
                      </a:solidFill>
                      <a:prstDash val="solid"/>
                    </a:lnR>
                    <a:lnT w="6350" cap="flat" cmpd="sng">
                      <a:solidFill>
                        <a:srgbClr val="D5D8DC"/>
                      </a:solidFill>
                      <a:prstDash val="solid"/>
                    </a:lnT>
                    <a:lnB w="6350" cap="flat" cmpd="sng">
                      <a:solidFill>
                        <a:srgbClr val="D5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410712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95A5A6"/>
                </a:solidFill>
                <a:latin typeface="Segoe UI"/>
              </a:defRPr>
            </a:pPr>
            <a:r>
              <a:t>Sources: AMFI Industry Data 2025-2026; Kotak Mahindra Bank Q3 FY26 Investor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4A90D9"/>
                </a:solidFill>
              </a:rPr>
              <a:t>★ </a:t>
            </a:r>
            <a:r>
              <a:rPr sz="1300" b="1">
                <a:solidFill>
                  <a:srgbClr val="4A90D9"/>
                </a:solidFill>
                <a:latin typeface="Segoe UI"/>
              </a:rPr>
              <a:t>KEY INSIGHT: </a:t>
            </a:r>
            <a:r>
              <a:rPr sz="1300">
                <a:solidFill>
                  <a:srgbClr val="2C3E50"/>
                </a:solidFill>
                <a:latin typeface="Segoe UI"/>
              </a:rPr>
              <a:t>B30 markets are growing at double the rate of T30, while SIPs provide a stable ₹2,043 Cr monthly capital cushion.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95A5A6"/>
                </a:solidFill>
                <a:latin typeface="Segoe UI"/>
              </a:defRPr>
            </a:pPr>
            <a:r>
              <a:t>Kotak Mahindra AMC: Competitive Intelligence &amp; Asset Analysis (FY 2025...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95A5A6"/>
                </a:solidFill>
                <a:latin typeface="Segoe UI"/>
              </a:defRPr>
            </a:pPr>
            <a: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B2A4A"/>
            </a:gs>
            <a:gs pos="100000">
              <a:srgbClr val="2C4A7C"/>
            </a:gs>
          </a:gsLst>
          <a:lin scaled="0" ang="54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Drive FY27 Profitability Via Tech and Geographic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566160"/>
            <a:ext cx="3017520" cy="54864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  <a:latin typeface="Segoe UI"/>
              </a:defRPr>
            </a:pPr>
            <a:r>
              <a:t>Execution of the B30 and Tech-First strategies will secure KMAMC's profitability and market position in FY27.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