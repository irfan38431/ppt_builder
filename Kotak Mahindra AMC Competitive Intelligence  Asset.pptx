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Capitalize on Massive Debt Instrument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2120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900">
                <a:solidFill>
                  <a:srgbClr val="D63031"/>
                </a:solidFill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Overwhelming reliance on fixed-income vehicles ensures portfolio stability amidst global market volatility.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900">
                <a:solidFill>
                  <a:srgbClr val="D63031"/>
                </a:solidFill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Volume for these specific assets stands near 4.28 million distinct investor allocations.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900">
                <a:solidFill>
                  <a:srgbClr val="D63031"/>
                </a:solidFill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Strategic focus targets pure liquidity, capturing thirty-seven percent from overall ₹6 lakh crore AUM.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sz="900">
                <a:solidFill>
                  <a:srgbClr val="D63031"/>
                </a:solidFill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Systematic inflows continuously replenish this ecosystem, providing steady capital streams.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The overarching defining characteristic of Kotak's asset distribution is its 4.28 million concentration in Debt-related instruments.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Kotak Mahindra AMC: Competitive Intelligence &amp; Ass...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Concentrate Debt Assets in Core and Liquid Vehicles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058399" cy="1737360"/>
        </p:xfrm>
        <a:graphic>
          <a:graphicData uri="http://schemas.openxmlformats.org/drawingml/2006/table">
            <a:tbl>
              <a:tblPr/>
              <a:tblGrid>
                <a:gridCol w="2450123"/>
                <a:gridCol w="4126523"/>
                <a:gridCol w="3481753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Asset Sub-Category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Percentage of Total Debt Segment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Strategic Role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Core Debt</a:t>
                      </a:r>
                    </a:p>
                  </a:txBody>
                  <a:tcPr anchor="ctr" marL="73152" marR="73152" marT="36576" marB="36576">
                    <a:solidFill>
                      <a:srgbClr val="FADBD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56.9%</a:t>
                      </a:r>
                    </a:p>
                  </a:txBody>
                  <a:tcPr anchor="ctr" marL="73152" marR="73152" marT="36576" marB="36576">
                    <a:solidFill>
                      <a:srgbClr val="FADBD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Primary Fixed-Income Driver</a:t>
                      </a:r>
                    </a:p>
                  </a:txBody>
                  <a:tcPr anchor="ctr" marL="73152" marR="73152" marT="36576" marB="36576">
                    <a:solidFill>
                      <a:srgbClr val="FADBD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Ultra Liquid</a:t>
                      </a:r>
                    </a:p>
                  </a:txBody>
                  <a:tcPr anchor="ctr" marL="73152" marR="73152" marT="36576" marB="36576">
                    <a:solidFill>
                      <a:srgbClr val="FADBD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31.8%</a:t>
                      </a:r>
                    </a:p>
                  </a:txBody>
                  <a:tcPr anchor="ctr" marL="73152" marR="73152" marT="36576" marB="36576">
                    <a:solidFill>
                      <a:srgbClr val="FADBD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Primary Liquidity Driver</a:t>
                      </a:r>
                    </a:p>
                  </a:txBody>
                  <a:tcPr anchor="ctr" marL="73152" marR="73152" marT="36576" marB="36576">
                    <a:solidFill>
                      <a:srgbClr val="FADBD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Other Debt Vehicles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11.3%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Emerging/Passive Strategies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 Debt Segment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100.0%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Aggregate Debt Portfolio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063239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8C8C8C"/>
                </a:solidFill>
                <a:latin typeface="Segoe UI"/>
              </a:defRPr>
            </a:pPr>
            <a:r>
              <a:t>Source: Kotak data dump.xlsx (Internal Data Analysis, FY 2025-26)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39"/>
            <a:ext cx="10058400" cy="45720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latin typeface="Segoe UI"/>
              </a:rPr>
              <a:t>💡 </a:t>
            </a:r>
            <a:r>
              <a:rPr sz="900" b="1">
                <a:solidFill>
                  <a:srgbClr val="1A1A1A"/>
                </a:solidFill>
                <a:latin typeface="Segoe UI"/>
              </a:rPr>
              <a:t>Core Debt and Ultra Liquid funds drive 88.7% of the total debt portfolio.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Kotak Mahindra AMC: Competitive Intelligence &amp; Ass...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Harness the Strategic Shift Toward Passive Debt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058398" cy="1737360"/>
        </p:xfrm>
        <a:graphic>
          <a:graphicData uri="http://schemas.openxmlformats.org/drawingml/2006/table">
            <a:tbl>
              <a:tblPr/>
              <a:tblGrid>
                <a:gridCol w="3400022"/>
                <a:gridCol w="2266681"/>
                <a:gridCol w="4391695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Asset Category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 Volume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Strategic Status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Core Debt &amp; Ultra Liquid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Primary Majority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Core Focus / High Concentration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Index Debt (Passive)</a:t>
                      </a:r>
                    </a:p>
                  </a:txBody>
                  <a:tcPr anchor="ctr" marL="73152" marR="73152" marT="36576" marB="36576">
                    <a:solidFill>
                      <a:srgbClr val="FFF8F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290,480</a:t>
                      </a:r>
                    </a:p>
                  </a:txBody>
                  <a:tcPr anchor="ctr" marL="73152" marR="73152" marT="36576" marB="36576">
                    <a:solidFill>
                      <a:srgbClr val="FFF8F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Emerging Secondary Category</a:t>
                      </a:r>
                    </a:p>
                  </a:txBody>
                  <a:tcPr anchor="ctr" marL="73152" marR="73152" marT="36576" marB="36576">
                    <a:solidFill>
                      <a:srgbClr val="FFF8F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Hybrid Funds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Deprioritized / Negligible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Assured-Return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Deprioritized / Negligible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063239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8C8C8C"/>
                </a:solidFill>
                <a:latin typeface="Segoe UI"/>
              </a:defRPr>
            </a:pPr>
            <a:r>
              <a:t>Source: Kotak data dump.xlsx / Internal Research Synthesis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39"/>
            <a:ext cx="10058400" cy="45720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latin typeface="Segoe UI"/>
              </a:rPr>
              <a:t>💡 </a:t>
            </a:r>
            <a:r>
              <a:rPr sz="900" b="1">
                <a:solidFill>
                  <a:srgbClr val="1A1A1A"/>
                </a:solidFill>
                <a:latin typeface="Segoe UI"/>
              </a:rPr>
              <a:t>Index Debt has rapidly scaled to 290,480 units, signaling a definitive pivot toward passive strategies.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Kotak Mahindra AMC: Competitive Intelligence &amp; Ass...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Contrast Kotak's Immense Debt Against Negligible Blended Portfolios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058399" cy="4206240"/>
        </p:xfrm>
        <a:graphic>
          <a:graphicData uri="http://schemas.openxmlformats.org/drawingml/2006/table">
            <a:tbl>
              <a:tblPr/>
              <a:tblGrid>
                <a:gridCol w="3065417"/>
                <a:gridCol w="1341120"/>
                <a:gridCol w="1724297"/>
                <a:gridCol w="1915885"/>
                <a:gridCol w="2011680"/>
              </a:tblGrid>
              <a:tr h="1752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Asset Class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Total AUM (Cr)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Corporate AUM (Cr)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Direct Plan AUM (Cr)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Regular Plan AUM (Cr)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Equity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9,450,066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1,130,219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2,135,987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6,877,987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Debt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3,738,027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2,562,532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2,343,743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1,305,765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Liquid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3,441,792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3,051,384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2,762,018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615,810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Ultra Liquid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3,402,664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2,775,653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2,533,298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789,433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Arbitrage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2,618,165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1,183,057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1,462,249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1,042,796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Hybrid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1,887,795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266,003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248,964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1,509,758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ETF Equity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800,283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791,968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679,383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119,079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Index Debt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462,213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290,480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314,705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131,902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FMP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460,254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329,612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361,286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62,509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Equity-NA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292,082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65,502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74,833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193,432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ETF Gold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271,247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267,632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264,880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6,366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Fund of Funds Scheme (Domestic)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251,136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65,206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105,912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141,063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Debt-NA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212,574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144,849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115,840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87,482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Fund Of Funds Investing Overseas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199,427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53,017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100,499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69,136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Index Equity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65,367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13,489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42,752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19,145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FMP-NA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58,231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42,445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46,921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7,853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ETF Silver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30,824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30,823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30,824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ETF Liquid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20,152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19,692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20,152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Hybrid-NA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Scheme Names-NA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Debt (assured return)-NA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DF5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Infrastructure Debt Funds-NA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AF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Grand Total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27,662,299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13,083,564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13,644,246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12,979,516</a:t>
                      </a:r>
                    </a:p>
                  </a:txBody>
                  <a:tcPr anchor="ctr" marL="73152" marR="73152" marT="36576" marB="36576">
                    <a:solidFill>
                      <a:srgbClr val="8B00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5321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8C8C8C"/>
                </a:solidFill>
                <a:latin typeface="Segoe UI"/>
              </a:defRPr>
            </a:pPr>
            <a:r>
              <a:t>Source: Kotak data dump.xlsx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Kotak Mahindra AMC: Competitive Intelligence &amp; Ass...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